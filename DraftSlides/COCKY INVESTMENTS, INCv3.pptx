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handoutMasterIdLst>
    <p:handoutMasterId r:id="rId17"/>
  </p:handoutMasterIdLst>
  <p:sldIdLst>
    <p:sldId id="256" r:id="rId2"/>
    <p:sldId id="257" r:id="rId3"/>
    <p:sldId id="259" r:id="rId4"/>
    <p:sldId id="260" r:id="rId5"/>
    <p:sldId id="261" r:id="rId6"/>
    <p:sldId id="262" r:id="rId7"/>
    <p:sldId id="263" r:id="rId8"/>
    <p:sldId id="264" r:id="rId9"/>
    <p:sldId id="265" r:id="rId10"/>
    <p:sldId id="266" r:id="rId11"/>
    <p:sldId id="268" r:id="rId12"/>
    <p:sldId id="267" r:id="rId13"/>
    <p:sldId id="269" r:id="rId14"/>
    <p:sldId id="25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1"/>
    <p:restoredTop sz="94694"/>
  </p:normalViewPr>
  <p:slideViewPr>
    <p:cSldViewPr snapToGrid="0" snapToObjects="1">
      <p:cViewPr>
        <p:scale>
          <a:sx n="120" d="100"/>
          <a:sy n="120" d="100"/>
        </p:scale>
        <p:origin x="120" y="-204"/>
      </p:cViewPr>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163" d="100"/>
          <a:sy n="163" d="100"/>
        </p:scale>
        <p:origin x="4576"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5684E1E-E540-AC43-BC13-F90D5530553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F041BA6-039E-8F4D-B7F7-3C8E20B40A7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D038C9C-4B69-864E-9EEE-DFA43CC144D2}" type="datetimeFigureOut">
              <a:rPr lang="en-US" smtClean="0"/>
              <a:t>4/16/2026</a:t>
            </a:fld>
            <a:endParaRPr lang="en-US"/>
          </a:p>
        </p:txBody>
      </p:sp>
      <p:sp>
        <p:nvSpPr>
          <p:cNvPr id="4" name="Footer Placeholder 3">
            <a:extLst>
              <a:ext uri="{FF2B5EF4-FFF2-40B4-BE49-F238E27FC236}">
                <a16:creationId xmlns:a16="http://schemas.microsoft.com/office/drawing/2014/main" id="{DD469921-4617-FB4C-9847-172FF830234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350DCBB-D829-754E-9E76-36A9E36432E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E947A92-5E9C-F94E-8B11-4D34C67AD036}" type="slidenum">
              <a:rPr lang="en-US" smtClean="0"/>
              <a:t>‹#›</a:t>
            </a:fld>
            <a:endParaRPr lang="en-US"/>
          </a:p>
        </p:txBody>
      </p:sp>
    </p:spTree>
    <p:extLst>
      <p:ext uri="{BB962C8B-B14F-4D97-AF65-F5344CB8AC3E}">
        <p14:creationId xmlns:p14="http://schemas.microsoft.com/office/powerpoint/2010/main" val="15392213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D9A61E-B1D6-C34D-A321-B3E90F6DE630}" type="datetimeFigureOut">
              <a:rPr lang="en-US" smtClean="0"/>
              <a:t>4/16/2026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A3E603-0EE4-3042-9661-047EB577E4A2}" type="slidenum">
              <a:rPr lang="en-US" smtClean="0"/>
              <a:t>‹#›</a:t>
            </a:fld>
            <a:endParaRPr lang="en-US"/>
          </a:p>
        </p:txBody>
      </p:sp>
    </p:spTree>
    <p:extLst>
      <p:ext uri="{BB962C8B-B14F-4D97-AF65-F5344CB8AC3E}">
        <p14:creationId xmlns:p14="http://schemas.microsoft.com/office/powerpoint/2010/main" val="31039494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A3E603-0EE4-3042-9661-047EB577E4A2}" type="slidenum">
              <a:rPr lang="en-US" smtClean="0"/>
              <a:t>2</a:t>
            </a:fld>
            <a:endParaRPr lang="en-US"/>
          </a:p>
        </p:txBody>
      </p:sp>
    </p:spTree>
    <p:extLst>
      <p:ext uri="{BB962C8B-B14F-4D97-AF65-F5344CB8AC3E}">
        <p14:creationId xmlns:p14="http://schemas.microsoft.com/office/powerpoint/2010/main" val="1770437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C6703-D0F7-E745-A687-AC990D0C464C}"/>
              </a:ext>
            </a:extLst>
          </p:cNvPr>
          <p:cNvSpPr>
            <a:spLocks noGrp="1"/>
          </p:cNvSpPr>
          <p:nvPr>
            <p:ph type="ctrTitle" hasCustomPrompt="1"/>
          </p:nvPr>
        </p:nvSpPr>
        <p:spPr>
          <a:xfrm>
            <a:off x="1524000" y="734056"/>
            <a:ext cx="9144000" cy="2387600"/>
          </a:xfrm>
        </p:spPr>
        <p:txBody>
          <a:bodyPr anchor="b"/>
          <a:lstStyle>
            <a:lvl1pPr algn="ctr">
              <a:defRPr sz="6000">
                <a:latin typeface="Impact" panose="020B0806030902050204"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61E6FFF2-58E4-794E-892D-6FF45321C2C0}"/>
              </a:ext>
            </a:extLst>
          </p:cNvPr>
          <p:cNvSpPr>
            <a:spLocks noGrp="1"/>
          </p:cNvSpPr>
          <p:nvPr>
            <p:ph type="subTitle" idx="1"/>
          </p:nvPr>
        </p:nvSpPr>
        <p:spPr>
          <a:xfrm>
            <a:off x="1524000" y="3313939"/>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Slide Number Placeholder 5">
            <a:extLst>
              <a:ext uri="{FF2B5EF4-FFF2-40B4-BE49-F238E27FC236}">
                <a16:creationId xmlns:a16="http://schemas.microsoft.com/office/drawing/2014/main" id="{1BA7C03E-EF71-2C40-9E45-BF08314EE5F1}"/>
              </a:ext>
            </a:extLst>
          </p:cNvPr>
          <p:cNvSpPr>
            <a:spLocks noGrp="1"/>
          </p:cNvSpPr>
          <p:nvPr>
            <p:ph type="sldNum" sz="quarter" idx="12"/>
          </p:nvPr>
        </p:nvSpPr>
        <p:spPr>
          <a:xfrm>
            <a:off x="838200" y="5991633"/>
            <a:ext cx="2587831" cy="365125"/>
          </a:xfrm>
        </p:spPr>
        <p:txBody>
          <a:bodyPr/>
          <a:lstStyle/>
          <a:p>
            <a:fld id="{B4E9AFF7-6653-6A4D-A979-64D2F5BECA26}" type="slidenum">
              <a:rPr lang="en-US" smtClean="0"/>
              <a:t>‹#›</a:t>
            </a:fld>
            <a:endParaRPr lang="en-US"/>
          </a:p>
        </p:txBody>
      </p:sp>
      <p:pic>
        <p:nvPicPr>
          <p:cNvPr id="9" name="Picture 8" descr="University of South Carolina logo.">
            <a:extLst>
              <a:ext uri="{FF2B5EF4-FFF2-40B4-BE49-F238E27FC236}">
                <a16:creationId xmlns:a16="http://schemas.microsoft.com/office/drawing/2014/main" id="{C81DC1BB-A980-8448-BB01-0788DE4349F9}"/>
              </a:ext>
            </a:extLst>
          </p:cNvPr>
          <p:cNvPicPr>
            <a:picLocks noChangeAspect="1"/>
          </p:cNvPicPr>
          <p:nvPr userDrawn="1"/>
        </p:nvPicPr>
        <p:blipFill>
          <a:blip r:embed="rId2"/>
          <a:stretch>
            <a:fillRect/>
          </a:stretch>
        </p:blipFill>
        <p:spPr>
          <a:xfrm>
            <a:off x="4509370" y="4429919"/>
            <a:ext cx="3173260" cy="2115507"/>
          </a:xfrm>
          <a:prstGeom prst="rect">
            <a:avLst/>
          </a:prstGeom>
        </p:spPr>
      </p:pic>
    </p:spTree>
    <p:extLst>
      <p:ext uri="{BB962C8B-B14F-4D97-AF65-F5344CB8AC3E}">
        <p14:creationId xmlns:p14="http://schemas.microsoft.com/office/powerpoint/2010/main" val="2957403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9ED37-4F17-3341-80DD-6302FD9C0346}"/>
              </a:ext>
            </a:extLst>
          </p:cNvPr>
          <p:cNvSpPr>
            <a:spLocks noGrp="1"/>
          </p:cNvSpPr>
          <p:nvPr>
            <p:ph type="title" hasCustomPrompt="1"/>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456E732-1F86-874D-B35F-F0D15E08E91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2C13372-CC48-6246-83C0-B536F3DCA7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75CF31-8755-3E42-B89A-9D67D96D7102}"/>
              </a:ext>
            </a:extLst>
          </p:cNvPr>
          <p:cNvSpPr>
            <a:spLocks noGrp="1"/>
          </p:cNvSpPr>
          <p:nvPr>
            <p:ph type="sldNum" sz="quarter" idx="12"/>
          </p:nvPr>
        </p:nvSpPr>
        <p:spPr>
          <a:xfrm>
            <a:off x="838200" y="6004323"/>
            <a:ext cx="2635332"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306765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24E78-1993-A540-9F01-A28635FB489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EC1F37B-372F-0146-A20D-449355B25403}"/>
              </a:ext>
            </a:extLst>
          </p:cNvPr>
          <p:cNvSpPr>
            <a:spLocks noGrp="1"/>
          </p:cNvSpPr>
          <p:nvPr>
            <p:ph type="body" idx="1"/>
          </p:nvPr>
        </p:nvSpPr>
        <p:spPr>
          <a:xfrm>
            <a:off x="831850" y="4589463"/>
            <a:ext cx="10515600" cy="120173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87ADC64B-5CD5-7341-B6E0-9B4F677F9F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918467-A91D-B840-9781-A402C93E7E3A}"/>
              </a:ext>
            </a:extLst>
          </p:cNvPr>
          <p:cNvSpPr>
            <a:spLocks noGrp="1"/>
          </p:cNvSpPr>
          <p:nvPr>
            <p:ph type="sldNum" sz="quarter" idx="12"/>
          </p:nvPr>
        </p:nvSpPr>
        <p:spPr>
          <a:xfrm>
            <a:off x="838200" y="6004322"/>
            <a:ext cx="2665021"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38840171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BC8D6-6BCB-BD4B-B6E0-92A778004EF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BC4099C-8353-F44E-8406-26AC07974CEE}"/>
              </a:ext>
            </a:extLst>
          </p:cNvPr>
          <p:cNvSpPr>
            <a:spLocks noGrp="1"/>
          </p:cNvSpPr>
          <p:nvPr>
            <p:ph sz="half" idx="1"/>
          </p:nvPr>
        </p:nvSpPr>
        <p:spPr>
          <a:xfrm>
            <a:off x="838200" y="1825625"/>
            <a:ext cx="5181600" cy="40437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8F8CC49-08EF-8048-B6B2-BC247008F046}"/>
              </a:ext>
            </a:extLst>
          </p:cNvPr>
          <p:cNvSpPr>
            <a:spLocks noGrp="1"/>
          </p:cNvSpPr>
          <p:nvPr>
            <p:ph sz="half" idx="2"/>
          </p:nvPr>
        </p:nvSpPr>
        <p:spPr>
          <a:xfrm>
            <a:off x="6172200" y="1825625"/>
            <a:ext cx="5181600" cy="40437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82CCBEF1-4544-884E-86EB-5374139098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77F880-2CCE-9044-8CE8-A7CF47CE5236}"/>
              </a:ext>
            </a:extLst>
          </p:cNvPr>
          <p:cNvSpPr>
            <a:spLocks noGrp="1"/>
          </p:cNvSpPr>
          <p:nvPr>
            <p:ph type="sldNum" sz="quarter" idx="12"/>
          </p:nvPr>
        </p:nvSpPr>
        <p:spPr>
          <a:xfrm>
            <a:off x="838200" y="6004323"/>
            <a:ext cx="2688771"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2524532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CE802-B46A-204D-94D4-E50D913AEE8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AD7812B-2A55-D049-A1C2-A4C973ACA5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58766B-6B24-3B45-B55F-3D85F881F93D}"/>
              </a:ext>
            </a:extLst>
          </p:cNvPr>
          <p:cNvSpPr>
            <a:spLocks noGrp="1"/>
          </p:cNvSpPr>
          <p:nvPr>
            <p:ph sz="half" idx="2"/>
          </p:nvPr>
        </p:nvSpPr>
        <p:spPr>
          <a:xfrm>
            <a:off x="839788" y="2505075"/>
            <a:ext cx="5157787" cy="33921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7A7F728-2418-1540-9191-5FDFA36D85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948585-BFC1-9148-A0B5-07C83C2F21BA}"/>
              </a:ext>
            </a:extLst>
          </p:cNvPr>
          <p:cNvSpPr>
            <a:spLocks noGrp="1"/>
          </p:cNvSpPr>
          <p:nvPr>
            <p:ph sz="quarter" idx="4"/>
          </p:nvPr>
        </p:nvSpPr>
        <p:spPr>
          <a:xfrm>
            <a:off x="6172200" y="2505075"/>
            <a:ext cx="5183188" cy="33921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BD1371BF-1A9F-5641-95DB-6C0FE67BBB9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1121846-D4EB-5949-B8F3-E40099164899}"/>
              </a:ext>
            </a:extLst>
          </p:cNvPr>
          <p:cNvSpPr>
            <a:spLocks noGrp="1"/>
          </p:cNvSpPr>
          <p:nvPr>
            <p:ph type="sldNum" sz="quarter" idx="12"/>
          </p:nvPr>
        </p:nvSpPr>
        <p:spPr>
          <a:xfrm>
            <a:off x="838200" y="6004323"/>
            <a:ext cx="2682834"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1645830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59A27-C210-CF48-97F8-943B5EBAC6EC}"/>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385EC86A-0D15-764F-AA81-41016E208EA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B633FAA-B5EA-C54D-A18B-17F16CA5F110}"/>
              </a:ext>
            </a:extLst>
          </p:cNvPr>
          <p:cNvSpPr>
            <a:spLocks noGrp="1"/>
          </p:cNvSpPr>
          <p:nvPr>
            <p:ph type="sldNum" sz="quarter" idx="12"/>
          </p:nvPr>
        </p:nvSpPr>
        <p:spPr>
          <a:xfrm>
            <a:off x="838200" y="6005974"/>
            <a:ext cx="2670958"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29712243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BC8BA86-4F41-AF40-BBD9-45DCB3C336DD}"/>
              </a:ext>
            </a:extLst>
          </p:cNvPr>
          <p:cNvSpPr>
            <a:spLocks noGrp="1"/>
          </p:cNvSpPr>
          <p:nvPr>
            <p:ph type="title"/>
          </p:nvPr>
        </p:nvSpPr>
        <p:spPr>
          <a:xfrm>
            <a:off x="0" y="-1538831"/>
            <a:ext cx="10515600" cy="1325563"/>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7AE991BC-E157-B340-860E-81A4EBD04B2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26805CF-1707-5749-8109-20FA44953EE0}"/>
              </a:ext>
            </a:extLst>
          </p:cNvPr>
          <p:cNvSpPr>
            <a:spLocks noGrp="1"/>
          </p:cNvSpPr>
          <p:nvPr>
            <p:ph type="sldNum" sz="quarter" idx="12"/>
          </p:nvPr>
        </p:nvSpPr>
        <p:spPr>
          <a:xfrm>
            <a:off x="838200" y="6004322"/>
            <a:ext cx="2605644"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6947464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654A1-6207-5141-AAB1-9A7630DA98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D39F95B-0887-9F4F-BA1C-0B9CBE5AED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6515B1-8A32-AB43-82F2-51A60BC2E3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5FC3D973-68F9-5B46-A3D8-B7AF20B00E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AA68CE-A588-FE4D-9C1E-5BE4A1A82F81}"/>
              </a:ext>
            </a:extLst>
          </p:cNvPr>
          <p:cNvSpPr>
            <a:spLocks noGrp="1"/>
          </p:cNvSpPr>
          <p:nvPr>
            <p:ph type="sldNum" sz="quarter" idx="12"/>
          </p:nvPr>
        </p:nvSpPr>
        <p:spPr>
          <a:xfrm>
            <a:off x="838200" y="6004323"/>
            <a:ext cx="2670958"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2948330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75185-7056-B946-8F27-7890BB2A34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A0AF3B6-3151-9346-B00D-EBED7ED75F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A5EF208-3C62-3840-A816-A69F27E0BF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AB0C1DD0-6624-6048-953E-41055A0D34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4C492C-9027-2B43-9637-56046A0631C2}"/>
              </a:ext>
            </a:extLst>
          </p:cNvPr>
          <p:cNvSpPr>
            <a:spLocks noGrp="1"/>
          </p:cNvSpPr>
          <p:nvPr>
            <p:ph type="sldNum" sz="quarter" idx="12"/>
          </p:nvPr>
        </p:nvSpPr>
        <p:spPr>
          <a:xfrm>
            <a:off x="838200" y="6004323"/>
            <a:ext cx="2676896"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2128403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Conclus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24E78-1993-A540-9F01-A28635FB4893}"/>
              </a:ext>
            </a:extLst>
          </p:cNvPr>
          <p:cNvSpPr>
            <a:spLocks noGrp="1"/>
          </p:cNvSpPr>
          <p:nvPr>
            <p:ph type="title" hasCustomPrompt="1"/>
          </p:nvPr>
        </p:nvSpPr>
        <p:spPr>
          <a:xfrm>
            <a:off x="831850" y="1656521"/>
            <a:ext cx="10515600" cy="2187986"/>
          </a:xfrm>
        </p:spPr>
        <p:txBody>
          <a:bodyPr anchor="t"/>
          <a:lstStyle>
            <a:lvl1pPr algn="ctr">
              <a:defRPr sz="6000">
                <a:solidFill>
                  <a:schemeClr val="bg1"/>
                </a:solidFill>
              </a:defRPr>
            </a:lvl1pPr>
          </a:lstStyle>
          <a:p>
            <a:r>
              <a:rPr lang="en-US" dirty="0"/>
              <a:t>Conclusion</a:t>
            </a:r>
          </a:p>
        </p:txBody>
      </p:sp>
      <p:sp>
        <p:nvSpPr>
          <p:cNvPr id="3" name="Text Placeholder 2">
            <a:extLst>
              <a:ext uri="{FF2B5EF4-FFF2-40B4-BE49-F238E27FC236}">
                <a16:creationId xmlns:a16="http://schemas.microsoft.com/office/drawing/2014/main" id="{2EC1F37B-372F-0146-A20D-449355B25403}"/>
              </a:ext>
            </a:extLst>
          </p:cNvPr>
          <p:cNvSpPr>
            <a:spLocks noGrp="1"/>
          </p:cNvSpPr>
          <p:nvPr>
            <p:ph type="body" idx="1" hasCustomPrompt="1"/>
          </p:nvPr>
        </p:nvSpPr>
        <p:spPr>
          <a:xfrm>
            <a:off x="831850" y="4867949"/>
            <a:ext cx="5493794" cy="1500187"/>
          </a:xfrm>
        </p:spPr>
        <p:txBody>
          <a:bodyPr anchor="b"/>
          <a:lstStyle>
            <a:lvl1pPr marL="0" indent="0" algn="l">
              <a:buNone/>
              <a:defRPr sz="1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Name</a:t>
            </a:r>
          </a:p>
          <a:p>
            <a:pPr lvl="0"/>
            <a:r>
              <a:rPr lang="en-US" dirty="0"/>
              <a:t>Title</a:t>
            </a:r>
          </a:p>
          <a:p>
            <a:pPr lvl="0"/>
            <a:r>
              <a:rPr lang="en-US" dirty="0"/>
              <a:t>Email</a:t>
            </a:r>
          </a:p>
        </p:txBody>
      </p:sp>
      <p:pic>
        <p:nvPicPr>
          <p:cNvPr id="12" name="Picture 11">
            <a:extLst>
              <a:ext uri="{FF2B5EF4-FFF2-40B4-BE49-F238E27FC236}">
                <a16:creationId xmlns:a16="http://schemas.microsoft.com/office/drawing/2014/main" id="{33EDFD73-0710-2244-860D-4BA6234A0E5E}"/>
              </a:ext>
            </a:extLst>
          </p:cNvPr>
          <p:cNvPicPr>
            <a:picLocks noChangeAspect="1"/>
          </p:cNvPicPr>
          <p:nvPr userDrawn="1"/>
        </p:nvPicPr>
        <p:blipFill>
          <a:blip r:embed="rId3"/>
          <a:srcRect/>
          <a:stretch/>
        </p:blipFill>
        <p:spPr>
          <a:xfrm>
            <a:off x="8726555" y="5790260"/>
            <a:ext cx="2892287" cy="577876"/>
          </a:xfrm>
          <a:prstGeom prst="rect">
            <a:avLst/>
          </a:prstGeom>
        </p:spPr>
      </p:pic>
    </p:spTree>
    <p:extLst>
      <p:ext uri="{BB962C8B-B14F-4D97-AF65-F5344CB8AC3E}">
        <p14:creationId xmlns:p14="http://schemas.microsoft.com/office/powerpoint/2010/main" val="37177766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4BC199-4655-F541-83EE-721E1D0864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5445D78-BC86-6C4A-8173-07BC8BF4F06C}"/>
              </a:ext>
            </a:extLst>
          </p:cNvPr>
          <p:cNvSpPr>
            <a:spLocks noGrp="1"/>
          </p:cNvSpPr>
          <p:nvPr>
            <p:ph type="body" idx="1"/>
          </p:nvPr>
        </p:nvSpPr>
        <p:spPr>
          <a:xfrm>
            <a:off x="838200" y="1825625"/>
            <a:ext cx="10515600" cy="399207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4989E362-4DC4-BA42-AD46-DCFCBF72CE19}"/>
              </a:ext>
            </a:extLst>
          </p:cNvPr>
          <p:cNvSpPr>
            <a:spLocks noGrp="1"/>
          </p:cNvSpPr>
          <p:nvPr>
            <p:ph type="ftr" sz="quarter" idx="3"/>
          </p:nvPr>
        </p:nvSpPr>
        <p:spPr>
          <a:xfrm>
            <a:off x="4038600" y="6004323"/>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E75AB465-CD1B-7A41-8A74-7F4A07B23239}"/>
              </a:ext>
            </a:extLst>
          </p:cNvPr>
          <p:cNvSpPr>
            <a:spLocks noGrp="1"/>
          </p:cNvSpPr>
          <p:nvPr>
            <p:ph type="sldNum" sz="quarter" idx="4"/>
          </p:nvPr>
        </p:nvSpPr>
        <p:spPr>
          <a:xfrm>
            <a:off x="838200" y="6004323"/>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E9AFF7-6653-6A4D-A979-64D2F5BECA26}" type="slidenum">
              <a:rPr lang="en-US" smtClean="0"/>
              <a:pPr/>
              <a:t>‹#›</a:t>
            </a:fld>
            <a:endParaRPr lang="en-US" dirty="0"/>
          </a:p>
        </p:txBody>
      </p:sp>
      <p:pic>
        <p:nvPicPr>
          <p:cNvPr id="12" name="Picture 11">
            <a:extLst>
              <a:ext uri="{FF2B5EF4-FFF2-40B4-BE49-F238E27FC236}">
                <a16:creationId xmlns:a16="http://schemas.microsoft.com/office/drawing/2014/main" id="{6A0032F1-0121-BE4C-B781-236291AD7975}"/>
              </a:ext>
            </a:extLst>
          </p:cNvPr>
          <p:cNvPicPr>
            <a:picLocks noChangeAspect="1"/>
          </p:cNvPicPr>
          <p:nvPr userDrawn="1"/>
        </p:nvPicPr>
        <p:blipFill>
          <a:blip r:embed="rId13"/>
          <a:srcRect t="4530" b="4530"/>
          <a:stretch/>
        </p:blipFill>
        <p:spPr>
          <a:xfrm>
            <a:off x="9022846" y="5946775"/>
            <a:ext cx="2695388" cy="487282"/>
          </a:xfrm>
          <a:prstGeom prst="rect">
            <a:avLst/>
          </a:prstGeom>
        </p:spPr>
      </p:pic>
    </p:spTree>
    <p:extLst>
      <p:ext uri="{BB962C8B-B14F-4D97-AF65-F5344CB8AC3E}">
        <p14:creationId xmlns:p14="http://schemas.microsoft.com/office/powerpoint/2010/main" val="22071300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cap="all" baseline="0">
          <a:solidFill>
            <a:schemeClr val="tx1"/>
          </a:solidFill>
          <a:latin typeface="Impact" panose="020B080603090205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F9F61-B891-3944-9E22-503B0C38A722}"/>
              </a:ext>
            </a:extLst>
          </p:cNvPr>
          <p:cNvSpPr>
            <a:spLocks noGrp="1"/>
          </p:cNvSpPr>
          <p:nvPr>
            <p:ph type="ctrTitle"/>
          </p:nvPr>
        </p:nvSpPr>
        <p:spPr>
          <a:xfrm>
            <a:off x="1524000" y="2047459"/>
            <a:ext cx="9144000" cy="1200647"/>
          </a:xfrm>
        </p:spPr>
        <p:txBody>
          <a:bodyPr>
            <a:normAutofit/>
          </a:bodyPr>
          <a:lstStyle/>
          <a:p>
            <a:r>
              <a:rPr lang="en-US" sz="4000" dirty="0"/>
              <a:t>COCKY INVESTMENTS, INC</a:t>
            </a:r>
          </a:p>
        </p:txBody>
      </p:sp>
      <p:sp>
        <p:nvSpPr>
          <p:cNvPr id="3" name="Subtitle 2">
            <a:extLst>
              <a:ext uri="{FF2B5EF4-FFF2-40B4-BE49-F238E27FC236}">
                <a16:creationId xmlns:a16="http://schemas.microsoft.com/office/drawing/2014/main" id="{8B96A461-863C-424F-BAE7-45F2ACA74C3E}"/>
              </a:ext>
            </a:extLst>
          </p:cNvPr>
          <p:cNvSpPr>
            <a:spLocks noGrp="1"/>
          </p:cNvSpPr>
          <p:nvPr>
            <p:ph type="subTitle" idx="1"/>
          </p:nvPr>
        </p:nvSpPr>
        <p:spPr/>
        <p:txBody>
          <a:bodyPr/>
          <a:lstStyle/>
          <a:p>
            <a:r>
              <a:rPr lang="en-US" dirty="0"/>
              <a:t>Presents Our Summary Investment Plan</a:t>
            </a:r>
          </a:p>
          <a:p>
            <a:r>
              <a:rPr lang="en-US" dirty="0"/>
              <a:t>To </a:t>
            </a:r>
          </a:p>
          <a:p>
            <a:r>
              <a:rPr lang="en-US" dirty="0"/>
              <a:t>Hitchcock &amp; Company</a:t>
            </a:r>
          </a:p>
        </p:txBody>
      </p:sp>
      <p:pic>
        <p:nvPicPr>
          <p:cNvPr id="4" name="Picture 3">
            <a:extLst>
              <a:ext uri="{FF2B5EF4-FFF2-40B4-BE49-F238E27FC236}">
                <a16:creationId xmlns:a16="http://schemas.microsoft.com/office/drawing/2014/main" id="{868D16CF-C4FC-40B0-A4E2-C48744E6EC48}"/>
              </a:ext>
            </a:extLst>
          </p:cNvPr>
          <p:cNvPicPr>
            <a:picLocks noChangeAspect="1"/>
          </p:cNvPicPr>
          <p:nvPr/>
        </p:nvPicPr>
        <p:blipFill>
          <a:blip r:embed="rId3"/>
          <a:stretch>
            <a:fillRect/>
          </a:stretch>
        </p:blipFill>
        <p:spPr>
          <a:xfrm>
            <a:off x="4884090" y="320564"/>
            <a:ext cx="2224378" cy="2105215"/>
          </a:xfrm>
          <a:prstGeom prst="rect">
            <a:avLst/>
          </a:prstGeom>
        </p:spPr>
      </p:pic>
      <p:sp>
        <p:nvSpPr>
          <p:cNvPr id="5" name="TextBox 4">
            <a:extLst>
              <a:ext uri="{FF2B5EF4-FFF2-40B4-BE49-F238E27FC236}">
                <a16:creationId xmlns:a16="http://schemas.microsoft.com/office/drawing/2014/main" id="{7F7229BD-6FEE-4678-9498-0D9B6CF8A19A}"/>
              </a:ext>
            </a:extLst>
          </p:cNvPr>
          <p:cNvSpPr txBox="1"/>
          <p:nvPr/>
        </p:nvSpPr>
        <p:spPr>
          <a:xfrm>
            <a:off x="4595855" y="6168104"/>
            <a:ext cx="2409245" cy="369332"/>
          </a:xfrm>
          <a:prstGeom prst="rect">
            <a:avLst/>
          </a:prstGeom>
          <a:noFill/>
        </p:spPr>
        <p:txBody>
          <a:bodyPr wrap="square" rtlCol="0">
            <a:spAutoFit/>
          </a:bodyPr>
          <a:lstStyle/>
          <a:p>
            <a:pPr algn="r"/>
            <a:r>
              <a:rPr lang="en-US" dirty="0"/>
              <a:t>April 23, 2026</a:t>
            </a:r>
          </a:p>
        </p:txBody>
      </p:sp>
    </p:spTree>
    <p:extLst>
      <p:ext uri="{BB962C8B-B14F-4D97-AF65-F5344CB8AC3E}">
        <p14:creationId xmlns:p14="http://schemas.microsoft.com/office/powerpoint/2010/main" val="3587006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3FBAD-F450-1448-A36A-72F6AB77EEC3}"/>
              </a:ext>
            </a:extLst>
          </p:cNvPr>
          <p:cNvSpPr>
            <a:spLocks noGrp="1"/>
          </p:cNvSpPr>
          <p:nvPr>
            <p:ph type="title"/>
          </p:nvPr>
        </p:nvSpPr>
        <p:spPr/>
        <p:txBody>
          <a:bodyPr/>
          <a:lstStyle/>
          <a:p>
            <a:r>
              <a:rPr lang="en-US" dirty="0"/>
              <a:t>About us – Cocky investments </a:t>
            </a:r>
          </a:p>
        </p:txBody>
      </p:sp>
      <p:sp>
        <p:nvSpPr>
          <p:cNvPr id="3" name="Content Placeholder 2">
            <a:extLst>
              <a:ext uri="{FF2B5EF4-FFF2-40B4-BE49-F238E27FC236}">
                <a16:creationId xmlns:a16="http://schemas.microsoft.com/office/drawing/2014/main" id="{A3FC7E89-62C2-B143-BEBA-CA6D34981BFF}"/>
              </a:ext>
            </a:extLst>
          </p:cNvPr>
          <p:cNvSpPr>
            <a:spLocks noGrp="1"/>
          </p:cNvSpPr>
          <p:nvPr>
            <p:ph idx="1"/>
          </p:nvPr>
        </p:nvSpPr>
        <p:spPr>
          <a:xfrm>
            <a:off x="838200" y="5208104"/>
            <a:ext cx="10515600" cy="890546"/>
          </a:xfrm>
        </p:spPr>
        <p:txBody>
          <a:bodyPr>
            <a:normAutofit fontScale="55000" lnSpcReduction="20000"/>
          </a:bodyPr>
          <a:lstStyle/>
          <a:p>
            <a:r>
              <a:rPr lang="en-US" dirty="0"/>
              <a:t>Strategic Investment Advice For the Weak Minded And Square</a:t>
            </a:r>
          </a:p>
          <a:p>
            <a:r>
              <a:rPr lang="en-US" dirty="0"/>
              <a:t>Our Proposal is based on Assets Held at Fidelity Inc as a Fiduciary Manager</a:t>
            </a:r>
          </a:p>
          <a:p>
            <a:r>
              <a:rPr lang="en-US" dirty="0"/>
              <a:t>We  Used </a:t>
            </a:r>
            <a:r>
              <a:rPr lang="en-US" dirty="0" err="1"/>
              <a:t>Github</a:t>
            </a:r>
            <a:r>
              <a:rPr lang="en-US" dirty="0"/>
              <a:t> Repos, and Github.IO for Our Work</a:t>
            </a:r>
          </a:p>
          <a:p>
            <a:endParaRPr lang="en-US" dirty="0"/>
          </a:p>
        </p:txBody>
      </p:sp>
      <p:sp>
        <p:nvSpPr>
          <p:cNvPr id="4" name="Rectangle 3">
            <a:extLst>
              <a:ext uri="{FF2B5EF4-FFF2-40B4-BE49-F238E27FC236}">
                <a16:creationId xmlns:a16="http://schemas.microsoft.com/office/drawing/2014/main" id="{35A61F36-58D5-41C9-BB9A-E791EC0D9891}"/>
              </a:ext>
            </a:extLst>
          </p:cNvPr>
          <p:cNvSpPr/>
          <p:nvPr/>
        </p:nvSpPr>
        <p:spPr>
          <a:xfrm>
            <a:off x="1113184" y="1574358"/>
            <a:ext cx="2274072" cy="25841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550F9B8-5A80-49DC-A473-9741A0ECBFAE}"/>
              </a:ext>
            </a:extLst>
          </p:cNvPr>
          <p:cNvSpPr txBox="1"/>
          <p:nvPr/>
        </p:nvSpPr>
        <p:spPr>
          <a:xfrm>
            <a:off x="1062349" y="4245997"/>
            <a:ext cx="2613328" cy="646331"/>
          </a:xfrm>
          <a:prstGeom prst="rect">
            <a:avLst/>
          </a:prstGeom>
          <a:noFill/>
        </p:spPr>
        <p:txBody>
          <a:bodyPr wrap="square" rtlCol="0">
            <a:spAutoFit/>
          </a:bodyPr>
          <a:lstStyle/>
          <a:p>
            <a:r>
              <a:rPr lang="en-US" dirty="0"/>
              <a:t>John</a:t>
            </a:r>
          </a:p>
          <a:p>
            <a:r>
              <a:rPr lang="en-US" dirty="0"/>
              <a:t>Partner – Financials</a:t>
            </a:r>
          </a:p>
        </p:txBody>
      </p:sp>
      <p:pic>
        <p:nvPicPr>
          <p:cNvPr id="6" name="Picture 5">
            <a:extLst>
              <a:ext uri="{FF2B5EF4-FFF2-40B4-BE49-F238E27FC236}">
                <a16:creationId xmlns:a16="http://schemas.microsoft.com/office/drawing/2014/main" id="{E3484198-D6E8-4624-B863-1CCBC125EC5F}"/>
              </a:ext>
            </a:extLst>
          </p:cNvPr>
          <p:cNvPicPr>
            <a:picLocks noChangeAspect="1"/>
          </p:cNvPicPr>
          <p:nvPr/>
        </p:nvPicPr>
        <p:blipFill>
          <a:blip r:embed="rId3"/>
          <a:stretch>
            <a:fillRect/>
          </a:stretch>
        </p:blipFill>
        <p:spPr>
          <a:xfrm>
            <a:off x="3675677" y="1573495"/>
            <a:ext cx="2685365" cy="3420152"/>
          </a:xfrm>
          <a:prstGeom prst="rect">
            <a:avLst/>
          </a:prstGeom>
        </p:spPr>
      </p:pic>
      <p:pic>
        <p:nvPicPr>
          <p:cNvPr id="7" name="Picture 6">
            <a:extLst>
              <a:ext uri="{FF2B5EF4-FFF2-40B4-BE49-F238E27FC236}">
                <a16:creationId xmlns:a16="http://schemas.microsoft.com/office/drawing/2014/main" id="{97589526-D245-476A-B8DE-F5CB8A15C90D}"/>
              </a:ext>
            </a:extLst>
          </p:cNvPr>
          <p:cNvPicPr>
            <a:picLocks noChangeAspect="1"/>
          </p:cNvPicPr>
          <p:nvPr/>
        </p:nvPicPr>
        <p:blipFill>
          <a:blip r:embed="rId4"/>
          <a:stretch>
            <a:fillRect/>
          </a:stretch>
        </p:blipFill>
        <p:spPr>
          <a:xfrm>
            <a:off x="6320148" y="1574358"/>
            <a:ext cx="2511770" cy="3420152"/>
          </a:xfrm>
          <a:prstGeom prst="rect">
            <a:avLst/>
          </a:prstGeom>
        </p:spPr>
      </p:pic>
      <p:pic>
        <p:nvPicPr>
          <p:cNvPr id="8" name="Picture 7">
            <a:extLst>
              <a:ext uri="{FF2B5EF4-FFF2-40B4-BE49-F238E27FC236}">
                <a16:creationId xmlns:a16="http://schemas.microsoft.com/office/drawing/2014/main" id="{77924925-D58B-4006-9D51-408CDF3FD093}"/>
              </a:ext>
            </a:extLst>
          </p:cNvPr>
          <p:cNvPicPr>
            <a:picLocks noChangeAspect="1"/>
          </p:cNvPicPr>
          <p:nvPr/>
        </p:nvPicPr>
        <p:blipFill>
          <a:blip r:embed="rId5"/>
          <a:stretch>
            <a:fillRect/>
          </a:stretch>
        </p:blipFill>
        <p:spPr>
          <a:xfrm>
            <a:off x="8910050" y="1573495"/>
            <a:ext cx="2712955" cy="3420152"/>
          </a:xfrm>
          <a:prstGeom prst="rect">
            <a:avLst/>
          </a:prstGeom>
        </p:spPr>
      </p:pic>
    </p:spTree>
    <p:extLst>
      <p:ext uri="{BB962C8B-B14F-4D97-AF65-F5344CB8AC3E}">
        <p14:creationId xmlns:p14="http://schemas.microsoft.com/office/powerpoint/2010/main" val="39821417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D6ADE-91A0-4001-A984-C369E1906EAA}"/>
              </a:ext>
            </a:extLst>
          </p:cNvPr>
          <p:cNvSpPr>
            <a:spLocks noGrp="1"/>
          </p:cNvSpPr>
          <p:nvPr>
            <p:ph type="title"/>
          </p:nvPr>
        </p:nvSpPr>
        <p:spPr/>
        <p:txBody>
          <a:bodyPr/>
          <a:lstStyle/>
          <a:p>
            <a:r>
              <a:rPr lang="en-US" dirty="0"/>
              <a:t>Customer Intake &amp; Comments</a:t>
            </a:r>
          </a:p>
        </p:txBody>
      </p:sp>
      <p:sp>
        <p:nvSpPr>
          <p:cNvPr id="3" name="Content Placeholder 2">
            <a:extLst>
              <a:ext uri="{FF2B5EF4-FFF2-40B4-BE49-F238E27FC236}">
                <a16:creationId xmlns:a16="http://schemas.microsoft.com/office/drawing/2014/main" id="{4A412B93-AD46-4051-A154-6E90AE40ECDD}"/>
              </a:ext>
            </a:extLst>
          </p:cNvPr>
          <p:cNvSpPr>
            <a:spLocks noGrp="1"/>
          </p:cNvSpPr>
          <p:nvPr>
            <p:ph idx="1"/>
          </p:nvPr>
        </p:nvSpPr>
        <p:spPr/>
        <p:txBody>
          <a:bodyPr>
            <a:normAutofit fontScale="70000" lnSpcReduction="20000"/>
          </a:bodyPr>
          <a:lstStyle/>
          <a:p>
            <a:r>
              <a:rPr lang="en-US" dirty="0"/>
              <a:t>Hitchcock and Company has solicited our opinion on how best to invest 50K dollars or roughly 25% of the company liquid assets into a new portfolio.</a:t>
            </a:r>
          </a:p>
          <a:p>
            <a:r>
              <a:rPr lang="en-US" dirty="0"/>
              <a:t>Our goal was to develop a strategic plan across 4 segments which we believe are the best opportunities for growth along with a traditional investment in Global Bond Funds for the Balance in Sovereign Debt and REITS which offer by law high dividend returns in equal amounts.</a:t>
            </a:r>
          </a:p>
          <a:p>
            <a:r>
              <a:rPr lang="en-US" dirty="0"/>
              <a:t>Our goal is to achieve a safe 4% growth using standard high dividend stocks (over a 10+ years), with equity options to add the balance pushing yields over 10% per annum.</a:t>
            </a:r>
          </a:p>
          <a:p>
            <a:r>
              <a:rPr lang="en-US" dirty="0"/>
              <a:t>Our worst case model is 4% and our highest outcome is as high as 15% in some segments. Over 10 years and using the rule of 72, stock investments should double on the order of every 12 years, and likely significantly less time than that.</a:t>
            </a:r>
          </a:p>
          <a:p>
            <a:r>
              <a:rPr lang="en-US" dirty="0"/>
              <a:t>We are therefore seeking to invest at low load 50K of your monies, and hope you will give us an additional 50K dollars to invest next year after you know how we work.</a:t>
            </a:r>
          </a:p>
        </p:txBody>
      </p:sp>
    </p:spTree>
    <p:extLst>
      <p:ext uri="{BB962C8B-B14F-4D97-AF65-F5344CB8AC3E}">
        <p14:creationId xmlns:p14="http://schemas.microsoft.com/office/powerpoint/2010/main" val="1462294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B46D9-B457-451A-88FF-EDF7D3B108F0}"/>
              </a:ext>
            </a:extLst>
          </p:cNvPr>
          <p:cNvSpPr>
            <a:spLocks noGrp="1"/>
          </p:cNvSpPr>
          <p:nvPr>
            <p:ph type="title"/>
          </p:nvPr>
        </p:nvSpPr>
        <p:spPr/>
        <p:txBody>
          <a:bodyPr/>
          <a:lstStyle/>
          <a:p>
            <a:r>
              <a:rPr lang="en-US" dirty="0"/>
              <a:t>OUR PROCESS IN THIS PROCESS</a:t>
            </a:r>
          </a:p>
        </p:txBody>
      </p:sp>
      <p:sp>
        <p:nvSpPr>
          <p:cNvPr id="3" name="Content Placeholder 2">
            <a:extLst>
              <a:ext uri="{FF2B5EF4-FFF2-40B4-BE49-F238E27FC236}">
                <a16:creationId xmlns:a16="http://schemas.microsoft.com/office/drawing/2014/main" id="{204078EB-97A1-4844-BF62-7016C9F78CD1}"/>
              </a:ext>
            </a:extLst>
          </p:cNvPr>
          <p:cNvSpPr>
            <a:spLocks noGrp="1"/>
          </p:cNvSpPr>
          <p:nvPr>
            <p:ph idx="1"/>
          </p:nvPr>
        </p:nvSpPr>
        <p:spPr>
          <a:xfrm>
            <a:off x="838200" y="1825625"/>
            <a:ext cx="7765111" cy="3992079"/>
          </a:xfrm>
        </p:spPr>
        <p:txBody>
          <a:bodyPr>
            <a:normAutofit fontScale="55000" lnSpcReduction="20000"/>
          </a:bodyPr>
          <a:lstStyle/>
          <a:p>
            <a:r>
              <a:rPr lang="en-US" dirty="0"/>
              <a:t>We started by looking at four segments for equities, along with bond, mutual, and REIT investments for the 5</a:t>
            </a:r>
            <a:r>
              <a:rPr lang="en-US" baseline="30000" dirty="0"/>
              <a:t>th</a:t>
            </a:r>
            <a:r>
              <a:rPr lang="en-US" dirty="0"/>
              <a:t>.</a:t>
            </a:r>
          </a:p>
          <a:p>
            <a:r>
              <a:rPr lang="en-US" dirty="0"/>
              <a:t>We sought equities with at least 1B in market value, stocks under $100 making them liquid and affordable, and which had clear history of 10 years of equity information, and 10 years of dividends which were static or growing.</a:t>
            </a:r>
          </a:p>
          <a:p>
            <a:r>
              <a:rPr lang="en-US" dirty="0"/>
              <a:t>We eliminated very high priced stocks, those with low dividends, low or extremely high market caps, to lower the Beta(or Risk) of our projected portfolio. Additionally we used our own intuition by Partners who are experts in our segments to eliminate stocks or investments which have near term litigation, cloudy futures due to technology changes, and other risk factors.</a:t>
            </a:r>
          </a:p>
          <a:p>
            <a:r>
              <a:rPr lang="en-US" dirty="0"/>
              <a:t>We sough to provide 20 stocks(OR 10??) in each sector with a 10K dollar target allocation. This means each stock would give us about 5% of that amount trued up to full shares. The exact amounts attributed to the amount of cash we had to investment in Bond Funds, REITS, Mutual funds and stock funds. (Remaining 10K).</a:t>
            </a:r>
          </a:p>
          <a:p>
            <a:r>
              <a:rPr lang="en-US" dirty="0"/>
              <a:t>We used Fidelity investment tools to restrict the stocks using their comprehensive Wholesale tools available to Cocky </a:t>
            </a:r>
            <a:r>
              <a:rPr lang="en-US" dirty="0" err="1"/>
              <a:t>Invsetments</a:t>
            </a:r>
            <a:r>
              <a:rPr lang="en-US" dirty="0"/>
              <a:t> via contract.</a:t>
            </a:r>
          </a:p>
          <a:p>
            <a:r>
              <a:rPr lang="en-US" dirty="0"/>
              <a:t>We intend to hold your assets at Fidelity with the firm knowledge that it would be possible to terminate our contract through a legal process with no risk to your investment should you feel that we gave you bad advice.</a:t>
            </a:r>
          </a:p>
        </p:txBody>
      </p:sp>
    </p:spTree>
    <p:extLst>
      <p:ext uri="{BB962C8B-B14F-4D97-AF65-F5344CB8AC3E}">
        <p14:creationId xmlns:p14="http://schemas.microsoft.com/office/powerpoint/2010/main" val="1255781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913B5-26B1-4405-A1AF-0A980DF49C00}"/>
              </a:ext>
            </a:extLst>
          </p:cNvPr>
          <p:cNvSpPr>
            <a:spLocks noGrp="1"/>
          </p:cNvSpPr>
          <p:nvPr>
            <p:ph type="title"/>
          </p:nvPr>
        </p:nvSpPr>
        <p:spPr/>
        <p:txBody>
          <a:bodyPr/>
          <a:lstStyle/>
          <a:p>
            <a:r>
              <a:rPr lang="en-US" dirty="0"/>
              <a:t>Health (Ryne)</a:t>
            </a:r>
          </a:p>
        </p:txBody>
      </p:sp>
      <p:sp>
        <p:nvSpPr>
          <p:cNvPr id="4" name="Rectangle 3">
            <a:extLst>
              <a:ext uri="{FF2B5EF4-FFF2-40B4-BE49-F238E27FC236}">
                <a16:creationId xmlns:a16="http://schemas.microsoft.com/office/drawing/2014/main" id="{CB5CE029-3392-44D9-9700-EF9C1FC9167B}"/>
              </a:ext>
            </a:extLst>
          </p:cNvPr>
          <p:cNvSpPr/>
          <p:nvPr/>
        </p:nvSpPr>
        <p:spPr>
          <a:xfrm>
            <a:off x="938255" y="1690688"/>
            <a:ext cx="3061252" cy="29737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My 20 Stocks Picked</a:t>
            </a:r>
          </a:p>
          <a:p>
            <a:pPr algn="ctr"/>
            <a:r>
              <a:rPr lang="en-US" dirty="0"/>
              <a:t>With Historical Data</a:t>
            </a:r>
          </a:p>
        </p:txBody>
      </p:sp>
      <p:sp>
        <p:nvSpPr>
          <p:cNvPr id="5" name="TextBox 4">
            <a:extLst>
              <a:ext uri="{FF2B5EF4-FFF2-40B4-BE49-F238E27FC236}">
                <a16:creationId xmlns:a16="http://schemas.microsoft.com/office/drawing/2014/main" id="{25D0C369-6862-446D-AE4F-F13730DCDCF6}"/>
              </a:ext>
            </a:extLst>
          </p:cNvPr>
          <p:cNvSpPr txBox="1"/>
          <p:nvPr/>
        </p:nvSpPr>
        <p:spPr>
          <a:xfrm>
            <a:off x="683812" y="5112689"/>
            <a:ext cx="7808181" cy="923330"/>
          </a:xfrm>
          <a:prstGeom prst="rect">
            <a:avLst/>
          </a:prstGeom>
          <a:noFill/>
        </p:spPr>
        <p:txBody>
          <a:bodyPr wrap="square" rtlCol="0">
            <a:spAutoFit/>
          </a:bodyPr>
          <a:lstStyle/>
          <a:p>
            <a:r>
              <a:rPr lang="en-US" dirty="0"/>
              <a:t>* Comments about restrictions decisions made on </a:t>
            </a:r>
            <a:r>
              <a:rPr lang="en-US" dirty="0" err="1"/>
              <a:t>Invidiual</a:t>
            </a:r>
            <a:r>
              <a:rPr lang="en-US" dirty="0"/>
              <a:t> Securities and why you steered away from specific investments for one reason or another? Comments on Your decisions for Dividend </a:t>
            </a:r>
            <a:r>
              <a:rPr lang="en-US" dirty="0" err="1"/>
              <a:t>Yeilds</a:t>
            </a:r>
            <a:r>
              <a:rPr lang="en-US" dirty="0"/>
              <a:t> vs Growth.</a:t>
            </a:r>
          </a:p>
        </p:txBody>
      </p:sp>
      <p:sp>
        <p:nvSpPr>
          <p:cNvPr id="6" name="Rectangle 5">
            <a:extLst>
              <a:ext uri="{FF2B5EF4-FFF2-40B4-BE49-F238E27FC236}">
                <a16:creationId xmlns:a16="http://schemas.microsoft.com/office/drawing/2014/main" id="{0AC3E826-2776-479C-A3E0-ACA481449E02}"/>
              </a:ext>
            </a:extLst>
          </p:cNvPr>
          <p:cNvSpPr/>
          <p:nvPr/>
        </p:nvSpPr>
        <p:spPr>
          <a:xfrm>
            <a:off x="4301656" y="1690688"/>
            <a:ext cx="3156667" cy="29737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Expected</a:t>
            </a:r>
          </a:p>
          <a:p>
            <a:pPr algn="ctr"/>
            <a:r>
              <a:rPr lang="en-US" dirty="0"/>
              <a:t>Return of My 20</a:t>
            </a:r>
          </a:p>
          <a:p>
            <a:pPr algn="ctr"/>
            <a:r>
              <a:rPr lang="en-US" dirty="0"/>
              <a:t>Stocks</a:t>
            </a:r>
          </a:p>
          <a:p>
            <a:pPr algn="ctr"/>
            <a:r>
              <a:rPr lang="en-US" dirty="0"/>
              <a:t>Overall, Dividends, Equity</a:t>
            </a:r>
          </a:p>
          <a:p>
            <a:pPr algn="ctr"/>
            <a:r>
              <a:rPr lang="en-US" dirty="0"/>
              <a:t>Based on 10 Year Historical</a:t>
            </a:r>
          </a:p>
          <a:p>
            <a:pPr algn="ctr"/>
            <a:r>
              <a:rPr lang="en-US" dirty="0"/>
              <a:t>ETC</a:t>
            </a:r>
          </a:p>
        </p:txBody>
      </p:sp>
      <p:sp>
        <p:nvSpPr>
          <p:cNvPr id="7" name="Rectangle 6">
            <a:extLst>
              <a:ext uri="{FF2B5EF4-FFF2-40B4-BE49-F238E27FC236}">
                <a16:creationId xmlns:a16="http://schemas.microsoft.com/office/drawing/2014/main" id="{3521269B-C4A0-488A-9BA9-8BA073BF373A}"/>
              </a:ext>
            </a:extLst>
          </p:cNvPr>
          <p:cNvSpPr/>
          <p:nvPr/>
        </p:nvSpPr>
        <p:spPr>
          <a:xfrm>
            <a:off x="7760473" y="1690688"/>
            <a:ext cx="3593327" cy="29737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Portfolio</a:t>
            </a:r>
          </a:p>
          <a:p>
            <a:pPr algn="ctr"/>
            <a:r>
              <a:rPr lang="en-US" dirty="0"/>
              <a:t>Options For More Growth</a:t>
            </a:r>
          </a:p>
          <a:p>
            <a:pPr algn="ctr"/>
            <a:r>
              <a:rPr lang="en-US" dirty="0"/>
              <a:t>Options For More Stability</a:t>
            </a:r>
          </a:p>
          <a:p>
            <a:pPr algn="ctr"/>
            <a:r>
              <a:rPr lang="en-US" dirty="0"/>
              <a:t>Options For More than 10K </a:t>
            </a:r>
          </a:p>
        </p:txBody>
      </p:sp>
    </p:spTree>
    <p:extLst>
      <p:ext uri="{BB962C8B-B14F-4D97-AF65-F5344CB8AC3E}">
        <p14:creationId xmlns:p14="http://schemas.microsoft.com/office/powerpoint/2010/main" val="39834173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913B5-26B1-4405-A1AF-0A980DF49C00}"/>
              </a:ext>
            </a:extLst>
          </p:cNvPr>
          <p:cNvSpPr>
            <a:spLocks noGrp="1"/>
          </p:cNvSpPr>
          <p:nvPr>
            <p:ph type="title"/>
          </p:nvPr>
        </p:nvSpPr>
        <p:spPr/>
        <p:txBody>
          <a:bodyPr/>
          <a:lstStyle/>
          <a:p>
            <a:r>
              <a:rPr lang="en-US" dirty="0" err="1"/>
              <a:t>FINANcIALS</a:t>
            </a:r>
            <a:r>
              <a:rPr lang="en-US" dirty="0"/>
              <a:t> (john)</a:t>
            </a:r>
          </a:p>
        </p:txBody>
      </p:sp>
      <p:pic>
        <p:nvPicPr>
          <p:cNvPr id="4" name="Picture 3">
            <a:extLst>
              <a:ext uri="{FF2B5EF4-FFF2-40B4-BE49-F238E27FC236}">
                <a16:creationId xmlns:a16="http://schemas.microsoft.com/office/drawing/2014/main" id="{B1371052-4BA4-4A14-9451-C4B6A45CDCDD}"/>
              </a:ext>
            </a:extLst>
          </p:cNvPr>
          <p:cNvPicPr>
            <a:picLocks noChangeAspect="1"/>
          </p:cNvPicPr>
          <p:nvPr/>
        </p:nvPicPr>
        <p:blipFill>
          <a:blip r:embed="rId2"/>
          <a:stretch>
            <a:fillRect/>
          </a:stretch>
        </p:blipFill>
        <p:spPr>
          <a:xfrm>
            <a:off x="880420" y="1935350"/>
            <a:ext cx="10431160" cy="2987299"/>
          </a:xfrm>
          <a:prstGeom prst="rect">
            <a:avLst/>
          </a:prstGeom>
        </p:spPr>
      </p:pic>
    </p:spTree>
    <p:extLst>
      <p:ext uri="{BB962C8B-B14F-4D97-AF65-F5344CB8AC3E}">
        <p14:creationId xmlns:p14="http://schemas.microsoft.com/office/powerpoint/2010/main" val="36169539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913B5-26B1-4405-A1AF-0A980DF49C00}"/>
              </a:ext>
            </a:extLst>
          </p:cNvPr>
          <p:cNvSpPr>
            <a:spLocks noGrp="1"/>
          </p:cNvSpPr>
          <p:nvPr>
            <p:ph type="title"/>
          </p:nvPr>
        </p:nvSpPr>
        <p:spPr/>
        <p:txBody>
          <a:bodyPr/>
          <a:lstStyle/>
          <a:p>
            <a:r>
              <a:rPr lang="en-US" dirty="0"/>
              <a:t>ENTERTAINMENT (Holden)</a:t>
            </a:r>
          </a:p>
        </p:txBody>
      </p:sp>
      <p:pic>
        <p:nvPicPr>
          <p:cNvPr id="4" name="Picture 3">
            <a:extLst>
              <a:ext uri="{FF2B5EF4-FFF2-40B4-BE49-F238E27FC236}">
                <a16:creationId xmlns:a16="http://schemas.microsoft.com/office/drawing/2014/main" id="{279BAC14-1D91-4A2A-B090-9112D5E3246E}"/>
              </a:ext>
            </a:extLst>
          </p:cNvPr>
          <p:cNvPicPr>
            <a:picLocks noChangeAspect="1"/>
          </p:cNvPicPr>
          <p:nvPr/>
        </p:nvPicPr>
        <p:blipFill>
          <a:blip r:embed="rId2"/>
          <a:stretch>
            <a:fillRect/>
          </a:stretch>
        </p:blipFill>
        <p:spPr>
          <a:xfrm>
            <a:off x="880420" y="1935350"/>
            <a:ext cx="10431160" cy="2987299"/>
          </a:xfrm>
          <a:prstGeom prst="rect">
            <a:avLst/>
          </a:prstGeom>
        </p:spPr>
      </p:pic>
    </p:spTree>
    <p:extLst>
      <p:ext uri="{BB962C8B-B14F-4D97-AF65-F5344CB8AC3E}">
        <p14:creationId xmlns:p14="http://schemas.microsoft.com/office/powerpoint/2010/main" val="40551390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913B5-26B1-4405-A1AF-0A980DF49C00}"/>
              </a:ext>
            </a:extLst>
          </p:cNvPr>
          <p:cNvSpPr>
            <a:spLocks noGrp="1"/>
          </p:cNvSpPr>
          <p:nvPr>
            <p:ph type="title"/>
          </p:nvPr>
        </p:nvSpPr>
        <p:spPr/>
        <p:txBody>
          <a:bodyPr/>
          <a:lstStyle/>
          <a:p>
            <a:r>
              <a:rPr lang="en-US" dirty="0"/>
              <a:t>AUTOMOTIVE AND INDUSTRIALS (CYRUS)</a:t>
            </a:r>
          </a:p>
        </p:txBody>
      </p:sp>
      <p:pic>
        <p:nvPicPr>
          <p:cNvPr id="4" name="Picture 3">
            <a:extLst>
              <a:ext uri="{FF2B5EF4-FFF2-40B4-BE49-F238E27FC236}">
                <a16:creationId xmlns:a16="http://schemas.microsoft.com/office/drawing/2014/main" id="{41BEB70F-070A-4F01-89FB-79C897B42B81}"/>
              </a:ext>
            </a:extLst>
          </p:cNvPr>
          <p:cNvPicPr>
            <a:picLocks noChangeAspect="1"/>
          </p:cNvPicPr>
          <p:nvPr/>
        </p:nvPicPr>
        <p:blipFill>
          <a:blip r:embed="rId2"/>
          <a:stretch>
            <a:fillRect/>
          </a:stretch>
        </p:blipFill>
        <p:spPr>
          <a:xfrm>
            <a:off x="880420" y="1935350"/>
            <a:ext cx="10431160" cy="2987299"/>
          </a:xfrm>
          <a:prstGeom prst="rect">
            <a:avLst/>
          </a:prstGeom>
        </p:spPr>
      </p:pic>
    </p:spTree>
    <p:extLst>
      <p:ext uri="{BB962C8B-B14F-4D97-AF65-F5344CB8AC3E}">
        <p14:creationId xmlns:p14="http://schemas.microsoft.com/office/powerpoint/2010/main" val="21393328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39199-7BDB-4E6E-A7F3-7D4B2A2555F0}"/>
              </a:ext>
            </a:extLst>
          </p:cNvPr>
          <p:cNvSpPr>
            <a:spLocks noGrp="1"/>
          </p:cNvSpPr>
          <p:nvPr>
            <p:ph type="title"/>
          </p:nvPr>
        </p:nvSpPr>
        <p:spPr/>
        <p:txBody>
          <a:bodyPr/>
          <a:lstStyle/>
          <a:p>
            <a:r>
              <a:rPr lang="en-US" dirty="0"/>
              <a:t>BALANCES &amp; BOND/REIT INVESTMENTS (</a:t>
            </a:r>
            <a:r>
              <a:rPr lang="en-US" dirty="0" err="1"/>
              <a:t>cyrus</a:t>
            </a:r>
            <a:r>
              <a:rPr lang="en-US" dirty="0"/>
              <a:t>)</a:t>
            </a:r>
          </a:p>
        </p:txBody>
      </p:sp>
      <p:sp>
        <p:nvSpPr>
          <p:cNvPr id="5" name="Rectangle 4">
            <a:extLst>
              <a:ext uri="{FF2B5EF4-FFF2-40B4-BE49-F238E27FC236}">
                <a16:creationId xmlns:a16="http://schemas.microsoft.com/office/drawing/2014/main" id="{B0450A6F-C427-45C8-A260-42D1C64D2879}"/>
              </a:ext>
            </a:extLst>
          </p:cNvPr>
          <p:cNvSpPr/>
          <p:nvPr/>
        </p:nvSpPr>
        <p:spPr>
          <a:xfrm>
            <a:off x="1121134" y="1773141"/>
            <a:ext cx="10002741" cy="32361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Balance of Cash Plan </a:t>
            </a:r>
          </a:p>
        </p:txBody>
      </p:sp>
    </p:spTree>
    <p:extLst>
      <p:ext uri="{BB962C8B-B14F-4D97-AF65-F5344CB8AC3E}">
        <p14:creationId xmlns:p14="http://schemas.microsoft.com/office/powerpoint/2010/main" val="40241077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C7883-DEA1-4523-9262-EDD59D8E463E}"/>
              </a:ext>
            </a:extLst>
          </p:cNvPr>
          <p:cNvSpPr>
            <a:spLocks noGrp="1"/>
          </p:cNvSpPr>
          <p:nvPr>
            <p:ph type="title"/>
          </p:nvPr>
        </p:nvSpPr>
        <p:spPr/>
        <p:txBody>
          <a:bodyPr/>
          <a:lstStyle/>
          <a:p>
            <a:r>
              <a:rPr lang="en-US" dirty="0"/>
              <a:t>PORTFOLIO MODELING RESULTS* (Holden)</a:t>
            </a:r>
          </a:p>
        </p:txBody>
      </p:sp>
      <p:sp>
        <p:nvSpPr>
          <p:cNvPr id="3" name="Content Placeholder 2">
            <a:extLst>
              <a:ext uri="{FF2B5EF4-FFF2-40B4-BE49-F238E27FC236}">
                <a16:creationId xmlns:a16="http://schemas.microsoft.com/office/drawing/2014/main" id="{22E5E19F-9767-42B9-9735-108F3CB28677}"/>
              </a:ext>
            </a:extLst>
          </p:cNvPr>
          <p:cNvSpPr>
            <a:spLocks noGrp="1"/>
          </p:cNvSpPr>
          <p:nvPr>
            <p:ph idx="1"/>
          </p:nvPr>
        </p:nvSpPr>
        <p:spPr>
          <a:xfrm>
            <a:off x="838200" y="5817704"/>
            <a:ext cx="10515600" cy="466476"/>
          </a:xfrm>
        </p:spPr>
        <p:txBody>
          <a:bodyPr>
            <a:normAutofit lnSpcReduction="10000"/>
          </a:bodyPr>
          <a:lstStyle/>
          <a:p>
            <a:pPr marL="0" indent="0">
              <a:buNone/>
            </a:pPr>
            <a:r>
              <a:rPr lang="en-US" dirty="0"/>
              <a:t>*Expected Returns based on prior10 year history</a:t>
            </a:r>
          </a:p>
        </p:txBody>
      </p:sp>
      <p:sp>
        <p:nvSpPr>
          <p:cNvPr id="4" name="Rectangle 3">
            <a:extLst>
              <a:ext uri="{FF2B5EF4-FFF2-40B4-BE49-F238E27FC236}">
                <a16:creationId xmlns:a16="http://schemas.microsoft.com/office/drawing/2014/main" id="{27C8C693-8E13-475F-9BD7-648085A02618}"/>
              </a:ext>
            </a:extLst>
          </p:cNvPr>
          <p:cNvSpPr/>
          <p:nvPr/>
        </p:nvSpPr>
        <p:spPr>
          <a:xfrm>
            <a:off x="1288111" y="1836751"/>
            <a:ext cx="9406393" cy="3482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Money Visualization on Facet Wrap of the 5 Investment Components</a:t>
            </a:r>
          </a:p>
          <a:p>
            <a:pPr algn="ctr"/>
            <a:r>
              <a:rPr lang="en-US" dirty="0"/>
              <a:t>Year0 to Year10 Based on a 6/1 Start Point.</a:t>
            </a:r>
          </a:p>
        </p:txBody>
      </p:sp>
    </p:spTree>
    <p:extLst>
      <p:ext uri="{BB962C8B-B14F-4D97-AF65-F5344CB8AC3E}">
        <p14:creationId xmlns:p14="http://schemas.microsoft.com/office/powerpoint/2010/main" val="21604487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1B9DE-3244-4D9B-B566-2BC99ECDAFA8}"/>
              </a:ext>
            </a:extLst>
          </p:cNvPr>
          <p:cNvSpPr>
            <a:spLocks noGrp="1"/>
          </p:cNvSpPr>
          <p:nvPr>
            <p:ph type="title"/>
          </p:nvPr>
        </p:nvSpPr>
        <p:spPr/>
        <p:txBody>
          <a:bodyPr/>
          <a:lstStyle/>
          <a:p>
            <a:r>
              <a:rPr lang="en-US" dirty="0"/>
              <a:t>Customer Tools – GENERIC USES(Cyrus)</a:t>
            </a:r>
          </a:p>
        </p:txBody>
      </p:sp>
      <p:sp>
        <p:nvSpPr>
          <p:cNvPr id="3" name="Content Placeholder 2">
            <a:extLst>
              <a:ext uri="{FF2B5EF4-FFF2-40B4-BE49-F238E27FC236}">
                <a16:creationId xmlns:a16="http://schemas.microsoft.com/office/drawing/2014/main" id="{A18545F8-3D4F-4DF3-844C-B442ADBFE8FF}"/>
              </a:ext>
            </a:extLst>
          </p:cNvPr>
          <p:cNvSpPr>
            <a:spLocks noGrp="1"/>
          </p:cNvSpPr>
          <p:nvPr>
            <p:ph idx="1"/>
          </p:nvPr>
        </p:nvSpPr>
        <p:spPr/>
        <p:txBody>
          <a:bodyPr/>
          <a:lstStyle/>
          <a:p>
            <a:r>
              <a:rPr lang="en-US" dirty="0"/>
              <a:t>Quick Video on Fidelity Use Cases (2mins)</a:t>
            </a:r>
          </a:p>
          <a:p>
            <a:r>
              <a:rPr lang="en-US" dirty="0"/>
              <a:t>Time Permitting.</a:t>
            </a:r>
          </a:p>
        </p:txBody>
      </p:sp>
    </p:spTree>
    <p:extLst>
      <p:ext uri="{BB962C8B-B14F-4D97-AF65-F5344CB8AC3E}">
        <p14:creationId xmlns:p14="http://schemas.microsoft.com/office/powerpoint/2010/main" val="881671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1B9DE-3244-4D9B-B566-2BC99ECDAFA8}"/>
              </a:ext>
            </a:extLst>
          </p:cNvPr>
          <p:cNvSpPr>
            <a:spLocks noGrp="1"/>
          </p:cNvSpPr>
          <p:nvPr>
            <p:ph type="title"/>
          </p:nvPr>
        </p:nvSpPr>
        <p:spPr/>
        <p:txBody>
          <a:bodyPr/>
          <a:lstStyle/>
          <a:p>
            <a:r>
              <a:rPr lang="en-US" dirty="0"/>
              <a:t>Customer Tools – PLANNING (CYRUS)</a:t>
            </a:r>
          </a:p>
        </p:txBody>
      </p:sp>
      <p:sp>
        <p:nvSpPr>
          <p:cNvPr id="3" name="Content Placeholder 2">
            <a:extLst>
              <a:ext uri="{FF2B5EF4-FFF2-40B4-BE49-F238E27FC236}">
                <a16:creationId xmlns:a16="http://schemas.microsoft.com/office/drawing/2014/main" id="{A18545F8-3D4F-4DF3-844C-B442ADBFE8FF}"/>
              </a:ext>
            </a:extLst>
          </p:cNvPr>
          <p:cNvSpPr>
            <a:spLocks noGrp="1"/>
          </p:cNvSpPr>
          <p:nvPr>
            <p:ph idx="1"/>
          </p:nvPr>
        </p:nvSpPr>
        <p:spPr/>
        <p:txBody>
          <a:bodyPr/>
          <a:lstStyle/>
          <a:p>
            <a:r>
              <a:rPr lang="en-US" dirty="0"/>
              <a:t>Quick Video on Shiny App (2 mins)</a:t>
            </a:r>
          </a:p>
        </p:txBody>
      </p:sp>
    </p:spTree>
    <p:extLst>
      <p:ext uri="{BB962C8B-B14F-4D97-AF65-F5344CB8AC3E}">
        <p14:creationId xmlns:p14="http://schemas.microsoft.com/office/powerpoint/2010/main" val="4443326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6EC7E-D4D7-42DD-ACD9-EF21CF93632C}"/>
              </a:ext>
            </a:extLst>
          </p:cNvPr>
          <p:cNvSpPr>
            <a:spLocks noGrp="1"/>
          </p:cNvSpPr>
          <p:nvPr>
            <p:ph type="title"/>
          </p:nvPr>
        </p:nvSpPr>
        <p:spPr/>
        <p:txBody>
          <a:bodyPr/>
          <a:lstStyle/>
          <a:p>
            <a:r>
              <a:rPr lang="en-US" dirty="0"/>
              <a:t>Wrap up (RYNE)</a:t>
            </a:r>
          </a:p>
        </p:txBody>
      </p:sp>
      <p:sp>
        <p:nvSpPr>
          <p:cNvPr id="3" name="Content Placeholder 2">
            <a:extLst>
              <a:ext uri="{FF2B5EF4-FFF2-40B4-BE49-F238E27FC236}">
                <a16:creationId xmlns:a16="http://schemas.microsoft.com/office/drawing/2014/main" id="{58A0F004-4AC4-4BB6-ACB0-720CE4FB857D}"/>
              </a:ext>
            </a:extLst>
          </p:cNvPr>
          <p:cNvSpPr>
            <a:spLocks noGrp="1"/>
          </p:cNvSpPr>
          <p:nvPr>
            <p:ph idx="1"/>
          </p:nvPr>
        </p:nvSpPr>
        <p:spPr/>
        <p:txBody>
          <a:bodyPr/>
          <a:lstStyle/>
          <a:p>
            <a:r>
              <a:rPr lang="en-US" dirty="0" err="1"/>
              <a:t>Github</a:t>
            </a:r>
            <a:endParaRPr lang="en-US" dirty="0"/>
          </a:p>
          <a:p>
            <a:r>
              <a:rPr lang="en-US" dirty="0"/>
              <a:t>Our Team</a:t>
            </a:r>
          </a:p>
          <a:p>
            <a:r>
              <a:rPr lang="en-US" dirty="0"/>
              <a:t>R Source Code</a:t>
            </a:r>
          </a:p>
          <a:p>
            <a:r>
              <a:rPr lang="en-US" dirty="0"/>
              <a:t>Database Interactions</a:t>
            </a:r>
          </a:p>
          <a:p>
            <a:r>
              <a:rPr lang="en-US" dirty="0"/>
              <a:t>ETC</a:t>
            </a:r>
          </a:p>
          <a:p>
            <a:r>
              <a:rPr lang="en-US" dirty="0"/>
              <a:t>Source Code Submission</a:t>
            </a:r>
          </a:p>
          <a:p>
            <a:r>
              <a:rPr lang="en-US" dirty="0"/>
              <a:t>Report Submission</a:t>
            </a:r>
          </a:p>
        </p:txBody>
      </p:sp>
    </p:spTree>
    <p:extLst>
      <p:ext uri="{BB962C8B-B14F-4D97-AF65-F5344CB8AC3E}">
        <p14:creationId xmlns:p14="http://schemas.microsoft.com/office/powerpoint/2010/main" val="31261997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14FC6-FE3D-7B45-84BE-3C726AB1D86B}"/>
              </a:ext>
            </a:extLst>
          </p:cNvPr>
          <p:cNvSpPr>
            <a:spLocks noGrp="1"/>
          </p:cNvSpPr>
          <p:nvPr>
            <p:ph type="title"/>
          </p:nvPr>
        </p:nvSpPr>
        <p:spPr/>
        <p:txBody>
          <a:bodyPr/>
          <a:lstStyle/>
          <a:p>
            <a:r>
              <a:rPr lang="en-US" dirty="0"/>
              <a:t>QUESTIONS?</a:t>
            </a:r>
          </a:p>
        </p:txBody>
      </p:sp>
      <p:sp>
        <p:nvSpPr>
          <p:cNvPr id="3" name="Text Placeholder 2">
            <a:extLst>
              <a:ext uri="{FF2B5EF4-FFF2-40B4-BE49-F238E27FC236}">
                <a16:creationId xmlns:a16="http://schemas.microsoft.com/office/drawing/2014/main" id="{83A473F4-C73D-8C4A-8929-A707A37594D9}"/>
              </a:ext>
            </a:extLst>
          </p:cNvPr>
          <p:cNvSpPr>
            <a:spLocks noGrp="1"/>
          </p:cNvSpPr>
          <p:nvPr>
            <p:ph type="body" idx="1"/>
          </p:nvPr>
        </p:nvSpPr>
        <p:spPr/>
        <p:txBody>
          <a:bodyPr/>
          <a:lstStyle/>
          <a:p>
            <a:r>
              <a:rPr lang="en-US" dirty="0"/>
              <a:t>Name</a:t>
            </a:r>
          </a:p>
          <a:p>
            <a:r>
              <a:rPr lang="en-US" dirty="0"/>
              <a:t>Title</a:t>
            </a:r>
          </a:p>
          <a:p>
            <a:r>
              <a:rPr lang="en-US" dirty="0"/>
              <a:t>Email</a:t>
            </a:r>
          </a:p>
          <a:p>
            <a:r>
              <a:rPr lang="en-US" dirty="0"/>
              <a:t>Social</a:t>
            </a:r>
          </a:p>
        </p:txBody>
      </p:sp>
    </p:spTree>
    <p:extLst>
      <p:ext uri="{BB962C8B-B14F-4D97-AF65-F5344CB8AC3E}">
        <p14:creationId xmlns:p14="http://schemas.microsoft.com/office/powerpoint/2010/main" val="3387642774"/>
      </p:ext>
    </p:extLst>
  </p:cSld>
  <p:clrMapOvr>
    <a:masterClrMapping/>
  </p:clrMapOvr>
</p:sld>
</file>

<file path=ppt/theme/theme1.xml><?xml version="1.0" encoding="utf-8"?>
<a:theme xmlns:a="http://schemas.openxmlformats.org/drawingml/2006/main" name="UofSC Simple Theme">
  <a:themeElements>
    <a:clrScheme name="Custom 1">
      <a:dk1>
        <a:srgbClr val="000000"/>
      </a:dk1>
      <a:lt1>
        <a:srgbClr val="FFFFFF"/>
      </a:lt1>
      <a:dk2>
        <a:srgbClr val="73000A"/>
      </a:dk2>
      <a:lt2>
        <a:srgbClr val="E7E6E6"/>
      </a:lt2>
      <a:accent1>
        <a:srgbClr val="0D3841"/>
      </a:accent1>
      <a:accent2>
        <a:srgbClr val="E23B38"/>
      </a:accent2>
      <a:accent3>
        <a:srgbClr val="759005"/>
      </a:accent3>
      <a:accent4>
        <a:srgbClr val="FFF89E"/>
      </a:accent4>
      <a:accent5>
        <a:srgbClr val="3277B6"/>
      </a:accent5>
      <a:accent6>
        <a:srgbClr val="C1D832"/>
      </a:accent6>
      <a:hlink>
        <a:srgbClr val="73000A"/>
      </a:hlink>
      <a:folHlink>
        <a:srgbClr val="E23B38"/>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258CAB0-DDDD-8E42-8715-79BD1402BECB}" vid="{EC9F5A20-6D19-7048-A333-7BEF17D9B23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usc_ppt_substitute_fonts_wide</Template>
  <TotalTime>36</TotalTime>
  <Words>734</Words>
  <Application>Microsoft Office PowerPoint</Application>
  <PresentationFormat>Widescreen</PresentationFormat>
  <Paragraphs>66</Paragraphs>
  <Slides>14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Impact</vt:lpstr>
      <vt:lpstr>UofSC Simple Theme</vt:lpstr>
      <vt:lpstr>COCKY INVESTMENTS, INC</vt:lpstr>
      <vt:lpstr>About us – Cocky investments </vt:lpstr>
      <vt:lpstr>Customer Intake &amp; Comments</vt:lpstr>
      <vt:lpstr>OUR PROCESS IN THIS PROCESS</vt:lpstr>
      <vt:lpstr>Health (Ryne)</vt:lpstr>
      <vt:lpstr>FINANcIALS (john)</vt:lpstr>
      <vt:lpstr>ENTERTAINMENT (Holden)</vt:lpstr>
      <vt:lpstr>AUTOMOTIVE AND INDUSTRIALS (CYRUS)</vt:lpstr>
      <vt:lpstr>BALANCES &amp; BOND/REIT INVESTMENTS (cyrus)</vt:lpstr>
      <vt:lpstr>PORTFOLIO MODELING RESULTS* (Holden)</vt:lpstr>
      <vt:lpstr>Customer Tools – GENERIC USES(Cyrus)</vt:lpstr>
      <vt:lpstr>Customer Tools – PLANNING (CYRUS)</vt:lpstr>
      <vt:lpstr>Wrap up (RYNE)</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COCKY INVESTMENTS, INC</dc:title>
  <dc:creator>Stritzinger, John</dc:creator>
  <cp:lastModifiedBy>Stritzinger, John</cp:lastModifiedBy>
  <cp:revision>16</cp:revision>
  <dcterms:created xsi:type="dcterms:W3CDTF">2026-04-16T22:11:15Z</dcterms:created>
  <dcterms:modified xsi:type="dcterms:W3CDTF">2026-04-16T22:47:57Z</dcterms:modified>
</cp:coreProperties>
</file>